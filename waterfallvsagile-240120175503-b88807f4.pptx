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4E3D41-79BE-4D29-838F-AF1467D6DEB6}">
  <a:tblStyle styleId="{EA4E3D41-79BE-4D29-838F-AF1467D6DE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297908" y="1355436"/>
            <a:ext cx="1978932" cy="54831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Requirements Gathering</a:t>
            </a:r>
            <a:endParaRPr dirty="0"/>
          </a:p>
        </p:txBody>
      </p:sp>
      <p:sp>
        <p:nvSpPr>
          <p:cNvPr id="90" name="Google Shape;90;p13"/>
          <p:cNvSpPr/>
          <p:nvPr/>
        </p:nvSpPr>
        <p:spPr>
          <a:xfrm>
            <a:off x="297903" y="2098059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293938" y="2840682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293938" y="3583305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Development</a:t>
            </a:r>
            <a:endParaRPr dirty="0"/>
          </a:p>
        </p:txBody>
      </p:sp>
      <p:sp>
        <p:nvSpPr>
          <p:cNvPr id="93" name="Google Shape;93;p13"/>
          <p:cNvSpPr/>
          <p:nvPr/>
        </p:nvSpPr>
        <p:spPr>
          <a:xfrm>
            <a:off x="293937" y="4325928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Testing</a:t>
            </a:r>
            <a:endParaRPr dirty="0"/>
          </a:p>
        </p:txBody>
      </p:sp>
      <p:sp>
        <p:nvSpPr>
          <p:cNvPr id="94" name="Google Shape;94;p13"/>
          <p:cNvSpPr/>
          <p:nvPr/>
        </p:nvSpPr>
        <p:spPr>
          <a:xfrm>
            <a:off x="297906" y="5068551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Maintenance </a:t>
            </a:r>
            <a:endParaRPr dirty="0"/>
          </a:p>
        </p:txBody>
      </p:sp>
      <p:sp>
        <p:nvSpPr>
          <p:cNvPr id="96" name="Google Shape;96;p13"/>
          <p:cNvSpPr/>
          <p:nvPr/>
        </p:nvSpPr>
        <p:spPr>
          <a:xfrm>
            <a:off x="6989642" y="1355436"/>
            <a:ext cx="1840688" cy="54831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Requirements Gathering</a:t>
            </a:r>
            <a:endParaRPr dirty="0"/>
          </a:p>
        </p:txBody>
      </p:sp>
      <p:sp>
        <p:nvSpPr>
          <p:cNvPr id="97" name="Google Shape;97;p13"/>
          <p:cNvSpPr/>
          <p:nvPr/>
        </p:nvSpPr>
        <p:spPr>
          <a:xfrm>
            <a:off x="6993607" y="2098059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dirty="0"/>
          </a:p>
        </p:txBody>
      </p:sp>
      <p:sp>
        <p:nvSpPr>
          <p:cNvPr id="98" name="Google Shape;98;p13"/>
          <p:cNvSpPr/>
          <p:nvPr/>
        </p:nvSpPr>
        <p:spPr>
          <a:xfrm>
            <a:off x="6989642" y="2840682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Planning</a:t>
            </a:r>
            <a:endParaRPr dirty="0"/>
          </a:p>
        </p:txBody>
      </p:sp>
      <p:sp>
        <p:nvSpPr>
          <p:cNvPr id="99" name="Google Shape;99;p13"/>
          <p:cNvSpPr/>
          <p:nvPr/>
        </p:nvSpPr>
        <p:spPr>
          <a:xfrm>
            <a:off x="6989642" y="3583305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Development </a:t>
            </a:r>
            <a:endParaRPr dirty="0"/>
          </a:p>
        </p:txBody>
      </p:sp>
      <p:sp>
        <p:nvSpPr>
          <p:cNvPr id="100" name="Google Shape;100;p13"/>
          <p:cNvSpPr/>
          <p:nvPr/>
        </p:nvSpPr>
        <p:spPr>
          <a:xfrm>
            <a:off x="6989641" y="4325928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Testing</a:t>
            </a:r>
            <a:endParaRPr dirty="0"/>
          </a:p>
        </p:txBody>
      </p:sp>
      <p:sp>
        <p:nvSpPr>
          <p:cNvPr id="101" name="Google Shape;101;p13"/>
          <p:cNvSpPr/>
          <p:nvPr/>
        </p:nvSpPr>
        <p:spPr>
          <a:xfrm>
            <a:off x="6993610" y="5068551"/>
            <a:ext cx="1836717" cy="43744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Maintenance</a:t>
            </a:r>
            <a:endParaRPr dirty="0"/>
          </a:p>
        </p:txBody>
      </p:sp>
      <p:cxnSp>
        <p:nvCxnSpPr>
          <p:cNvPr id="105" name="Google Shape;105;p13"/>
          <p:cNvCxnSpPr>
            <a:cxnSpLocks/>
            <a:stCxn id="89" idx="2"/>
            <a:endCxn id="90" idx="0"/>
          </p:cNvCxnSpPr>
          <p:nvPr/>
        </p:nvCxnSpPr>
        <p:spPr>
          <a:xfrm flipH="1">
            <a:off x="1216262" y="1903751"/>
            <a:ext cx="71112" cy="1943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" name="Google Shape;106;p13"/>
          <p:cNvCxnSpPr/>
          <p:nvPr/>
        </p:nvCxnSpPr>
        <p:spPr>
          <a:xfrm flipH="1">
            <a:off x="1212295" y="2535499"/>
            <a:ext cx="5" cy="30518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" name="Google Shape;107;p13"/>
          <p:cNvCxnSpPr/>
          <p:nvPr/>
        </p:nvCxnSpPr>
        <p:spPr>
          <a:xfrm flipH="1">
            <a:off x="1212295" y="3295116"/>
            <a:ext cx="5" cy="30518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" name="Google Shape;108;p13"/>
          <p:cNvCxnSpPr/>
          <p:nvPr/>
        </p:nvCxnSpPr>
        <p:spPr>
          <a:xfrm flipH="1">
            <a:off x="1212290" y="4016051"/>
            <a:ext cx="5" cy="30518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" name="Google Shape;109;p13"/>
          <p:cNvCxnSpPr/>
          <p:nvPr/>
        </p:nvCxnSpPr>
        <p:spPr>
          <a:xfrm flipH="1">
            <a:off x="1212290" y="4763367"/>
            <a:ext cx="5" cy="30518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" name="Google Shape;111;p13"/>
          <p:cNvSpPr/>
          <p:nvPr/>
        </p:nvSpPr>
        <p:spPr>
          <a:xfrm>
            <a:off x="3451674" y="2101264"/>
            <a:ext cx="2196983" cy="1891035"/>
          </a:xfrm>
          <a:prstGeom prst="flowChartDecision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endParaRPr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-146116" y="87387"/>
            <a:ext cx="992468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WATERFALL     VS        AGILE</a:t>
            </a:r>
            <a:endParaRPr sz="5400" b="1" dirty="0"/>
          </a:p>
        </p:txBody>
      </p:sp>
      <p:grpSp>
        <p:nvGrpSpPr>
          <p:cNvPr id="113" name="Google Shape;113;p13"/>
          <p:cNvGrpSpPr/>
          <p:nvPr/>
        </p:nvGrpSpPr>
        <p:grpSpPr>
          <a:xfrm>
            <a:off x="8825835" y="1374494"/>
            <a:ext cx="1088788" cy="4109011"/>
            <a:chOff x="8885263" y="1335000"/>
            <a:chExt cx="1040488" cy="4029830"/>
          </a:xfrm>
        </p:grpSpPr>
        <p:cxnSp>
          <p:nvCxnSpPr>
            <p:cNvPr id="114" name="Google Shape;114;p13"/>
            <p:cNvCxnSpPr>
              <a:cxnSpLocks/>
            </p:cNvCxnSpPr>
            <p:nvPr/>
          </p:nvCxnSpPr>
          <p:spPr>
            <a:xfrm>
              <a:off x="8885263" y="1335003"/>
              <a:ext cx="1023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13"/>
            <p:cNvCxnSpPr/>
            <p:nvPr/>
          </p:nvCxnSpPr>
          <p:spPr>
            <a:xfrm flipH="1">
              <a:off x="9921958" y="1335000"/>
              <a:ext cx="2" cy="402982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9456663" y="5364829"/>
              <a:ext cx="465287" cy="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9460464" y="3873620"/>
              <a:ext cx="465287" cy="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9456684" y="2407924"/>
              <a:ext cx="465287" cy="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19" name="Google Shape;119;p13"/>
          <p:cNvGrpSpPr/>
          <p:nvPr/>
        </p:nvGrpSpPr>
        <p:grpSpPr>
          <a:xfrm>
            <a:off x="8816942" y="4638510"/>
            <a:ext cx="596734" cy="810889"/>
            <a:chOff x="10055430" y="5035137"/>
            <a:chExt cx="596734" cy="755599"/>
          </a:xfrm>
        </p:grpSpPr>
        <p:cxnSp>
          <p:nvCxnSpPr>
            <p:cNvPr id="120" name="Google Shape;120;p13"/>
            <p:cNvCxnSpPr/>
            <p:nvPr/>
          </p:nvCxnSpPr>
          <p:spPr>
            <a:xfrm>
              <a:off x="10652164" y="5035137"/>
              <a:ext cx="0" cy="75559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1" name="Google Shape;121;p13"/>
            <p:cNvCxnSpPr/>
            <p:nvPr/>
          </p:nvCxnSpPr>
          <p:spPr>
            <a:xfrm rot="10800000">
              <a:off x="10064324" y="5048115"/>
              <a:ext cx="58784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2" name="Google Shape;122;p13"/>
            <p:cNvCxnSpPr/>
            <p:nvPr/>
          </p:nvCxnSpPr>
          <p:spPr>
            <a:xfrm rot="10800000">
              <a:off x="10055430" y="5790736"/>
              <a:ext cx="59673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23" name="Google Shape;123;p13"/>
          <p:cNvGrpSpPr/>
          <p:nvPr/>
        </p:nvGrpSpPr>
        <p:grpSpPr>
          <a:xfrm>
            <a:off x="8816942" y="3799823"/>
            <a:ext cx="596734" cy="755599"/>
            <a:chOff x="10055430" y="5035137"/>
            <a:chExt cx="596734" cy="755599"/>
          </a:xfrm>
        </p:grpSpPr>
        <p:cxnSp>
          <p:nvCxnSpPr>
            <p:cNvPr id="124" name="Google Shape;124;p13"/>
            <p:cNvCxnSpPr/>
            <p:nvPr/>
          </p:nvCxnSpPr>
          <p:spPr>
            <a:xfrm>
              <a:off x="10652164" y="5035137"/>
              <a:ext cx="0" cy="75559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5" name="Google Shape;125;p13"/>
            <p:cNvCxnSpPr/>
            <p:nvPr/>
          </p:nvCxnSpPr>
          <p:spPr>
            <a:xfrm rot="10800000">
              <a:off x="10064324" y="5048115"/>
              <a:ext cx="58784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6" name="Google Shape;126;p13"/>
            <p:cNvCxnSpPr/>
            <p:nvPr/>
          </p:nvCxnSpPr>
          <p:spPr>
            <a:xfrm rot="10800000">
              <a:off x="10055430" y="5790736"/>
              <a:ext cx="59673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27" name="Google Shape;127;p13"/>
          <p:cNvGrpSpPr/>
          <p:nvPr/>
        </p:nvGrpSpPr>
        <p:grpSpPr>
          <a:xfrm>
            <a:off x="8822336" y="2313051"/>
            <a:ext cx="596734" cy="755599"/>
            <a:chOff x="10055430" y="5035137"/>
            <a:chExt cx="596734" cy="755599"/>
          </a:xfrm>
        </p:grpSpPr>
        <p:cxnSp>
          <p:nvCxnSpPr>
            <p:cNvPr id="128" name="Google Shape;128;p13"/>
            <p:cNvCxnSpPr/>
            <p:nvPr/>
          </p:nvCxnSpPr>
          <p:spPr>
            <a:xfrm>
              <a:off x="10652164" y="5035137"/>
              <a:ext cx="0" cy="75559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9" name="Google Shape;129;p13"/>
            <p:cNvCxnSpPr/>
            <p:nvPr/>
          </p:nvCxnSpPr>
          <p:spPr>
            <a:xfrm rot="10800000">
              <a:off x="10064324" y="5048115"/>
              <a:ext cx="58784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0" name="Google Shape;130;p13"/>
            <p:cNvCxnSpPr/>
            <p:nvPr/>
          </p:nvCxnSpPr>
          <p:spPr>
            <a:xfrm rot="10800000">
              <a:off x="10055430" y="5790736"/>
              <a:ext cx="59673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31" name="Google Shape;131;p13"/>
          <p:cNvGrpSpPr/>
          <p:nvPr/>
        </p:nvGrpSpPr>
        <p:grpSpPr>
          <a:xfrm>
            <a:off x="2419901" y="4319046"/>
            <a:ext cx="4370119" cy="1936448"/>
            <a:chOff x="0" y="1271"/>
            <a:chExt cx="4370119" cy="1936448"/>
          </a:xfrm>
        </p:grpSpPr>
        <p:sp>
          <p:nvSpPr>
            <p:cNvPr id="132" name="Google Shape;132;p13"/>
            <p:cNvSpPr/>
            <p:nvPr/>
          </p:nvSpPr>
          <p:spPr>
            <a:xfrm>
              <a:off x="0" y="1271"/>
              <a:ext cx="4370119" cy="63892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3D4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31190" y="32461"/>
              <a:ext cx="4307739" cy="576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mbria"/>
                <a:buNone/>
              </a:pPr>
              <a:r>
                <a:rPr lang="en-US" sz="4000" i="1" dirty="0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10 Key Differences</a:t>
              </a:r>
              <a:endParaRPr sz="4000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650031"/>
              <a:ext cx="4370119" cy="63892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3D4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31190" y="681221"/>
              <a:ext cx="4307739" cy="576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mbria"/>
                <a:buNone/>
              </a:pPr>
              <a:r>
                <a:rPr lang="en-US" sz="4000" i="1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Pros &amp; Cons</a:t>
              </a:r>
              <a:endParaRPr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1298790"/>
              <a:ext cx="4370119" cy="63892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rgbClr val="3D4B5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37" name="Google Shape;137;p13"/>
            <p:cNvSpPr txBox="1"/>
            <p:nvPr/>
          </p:nvSpPr>
          <p:spPr>
            <a:xfrm>
              <a:off x="31190" y="1329980"/>
              <a:ext cx="4307739" cy="576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152400" rIns="152400" bIns="1524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mbria"/>
                <a:buNone/>
              </a:pPr>
              <a:r>
                <a:rPr lang="en-US" sz="4000" i="1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Situational Uses</a:t>
              </a:r>
              <a:endParaRPr sz="40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/>
          <p:nvPr/>
        </p:nvSpPr>
        <p:spPr>
          <a:xfrm>
            <a:off x="583869" y="344471"/>
            <a:ext cx="28420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What is waterfall ? </a:t>
            </a:r>
            <a:endParaRPr sz="2400" b="1" i="1" dirty="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625429" y="928777"/>
            <a:ext cx="1025236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The waterfall project management method is a linear, step-by-step approach that's ideal for projects with a clear scope and predictable timeline.</a:t>
            </a:r>
            <a:endParaRPr dirty="0"/>
          </a:p>
        </p:txBody>
      </p:sp>
      <p:sp>
        <p:nvSpPr>
          <p:cNvPr id="144" name="Google Shape;144;p14"/>
          <p:cNvSpPr/>
          <p:nvPr/>
        </p:nvSpPr>
        <p:spPr>
          <a:xfrm>
            <a:off x="625429" y="2095776"/>
            <a:ext cx="799605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242C39"/>
                </a:solidFill>
                <a:latin typeface="Cambria"/>
                <a:ea typeface="Cambria"/>
                <a:cs typeface="Cambria"/>
                <a:sym typeface="Cambria"/>
              </a:rPr>
              <a:t>It involves rigorous planning upfront to ensure that the project stays on track, with progress tracked closely and issues addressed promptly.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rgbClr val="242C39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527598" y="4731756"/>
            <a:ext cx="79070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1: Initiation     2: planning     3: execution     4: monitoring/control     5: closing</a:t>
            </a:r>
            <a:endParaRPr dirty="0"/>
          </a:p>
        </p:txBody>
      </p:sp>
      <p:pic>
        <p:nvPicPr>
          <p:cNvPr id="147" name="Google Shape;147;p14"/>
          <p:cNvPicPr preferRelativeResize="0"/>
          <p:nvPr/>
        </p:nvPicPr>
        <p:blipFill rotWithShape="1">
          <a:blip r:embed="rId3">
            <a:alphaModFix/>
          </a:blip>
          <a:srcRect t="6801" r="7848"/>
          <a:stretch/>
        </p:blipFill>
        <p:spPr>
          <a:xfrm>
            <a:off x="8621485" y="2547676"/>
            <a:ext cx="3366235" cy="255341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48" name="Google Shape;148;p14"/>
          <p:cNvSpPr/>
          <p:nvPr/>
        </p:nvSpPr>
        <p:spPr>
          <a:xfrm>
            <a:off x="329692" y="3792915"/>
            <a:ext cx="810491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rgbClr val="242C3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242C39"/>
                </a:solidFill>
                <a:latin typeface="Cambria"/>
                <a:ea typeface="Cambria"/>
                <a:cs typeface="Cambria"/>
                <a:sym typeface="Cambria"/>
              </a:rPr>
              <a:t>The Waterfall model usually includes five project management stages (or phases): 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  <p:bldP spid="144" grpId="0"/>
      <p:bldP spid="146" grpId="0"/>
      <p:bldP spid="1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378330" y="1235436"/>
            <a:ext cx="5157787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 sz="32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Pros</a:t>
            </a:r>
            <a:endParaRPr dirty="0"/>
          </a:p>
        </p:txBody>
      </p:sp>
      <p:grpSp>
        <p:nvGrpSpPr>
          <p:cNvPr id="154" name="Google Shape;154;p15"/>
          <p:cNvGrpSpPr/>
          <p:nvPr/>
        </p:nvGrpSpPr>
        <p:grpSpPr>
          <a:xfrm>
            <a:off x="-4666951" y="505948"/>
            <a:ext cx="10675867" cy="7244242"/>
            <a:chOff x="-4819754" y="-738677"/>
            <a:chExt cx="10675867" cy="5740597"/>
          </a:xfrm>
        </p:grpSpPr>
        <p:sp>
          <p:nvSpPr>
            <p:cNvPr id="155" name="Google Shape;155;p15"/>
            <p:cNvSpPr/>
            <p:nvPr/>
          </p:nvSpPr>
          <p:spPr>
            <a:xfrm>
              <a:off x="-4819754" y="-738677"/>
              <a:ext cx="5740597" cy="5740597"/>
            </a:xfrm>
            <a:prstGeom prst="blockArc">
              <a:avLst>
                <a:gd name="adj1" fmla="val 18900000"/>
                <a:gd name="adj2" fmla="val 2700000"/>
                <a:gd name="adj3" fmla="val 37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82245" y="327758"/>
              <a:ext cx="5373868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482245" y="327758"/>
              <a:ext cx="5373868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Supports all planning to be completed up front with a clear roadmap for every stage of the project</a:t>
              </a:r>
              <a:endParaRPr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72334" y="245775"/>
              <a:ext cx="819821" cy="81982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858263" y="1311714"/>
              <a:ext cx="4997850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858263" y="1311714"/>
              <a:ext cx="4997850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Utilizes a clear, structured approach</a:t>
              </a:r>
              <a:endParaRPr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448352" y="1229732"/>
              <a:ext cx="819821" cy="81982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858263" y="2295670"/>
              <a:ext cx="4997850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858263" y="2295670"/>
              <a:ext cx="4997850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Easy to track progress, identify risks, and manage project budgets</a:t>
              </a:r>
              <a:endParaRPr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448352" y="2213688"/>
              <a:ext cx="819821" cy="81982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482245" y="3279626"/>
              <a:ext cx="5373868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482245" y="3279626"/>
              <a:ext cx="5373868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Project manager holds significant authority over the project, plan, and value delivery</a:t>
              </a:r>
              <a:endParaRPr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72334" y="3197644"/>
              <a:ext cx="819821" cy="819821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68" name="Google Shape;168;p15"/>
          <p:cNvSpPr txBox="1">
            <a:spLocks noGrp="1"/>
          </p:cNvSpPr>
          <p:nvPr>
            <p:ph type="body" idx="3"/>
          </p:nvPr>
        </p:nvSpPr>
        <p:spPr>
          <a:xfrm>
            <a:off x="6560056" y="1235436"/>
            <a:ext cx="5183188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en-US" sz="32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Cons</a:t>
            </a:r>
            <a:endParaRPr dirty="0"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1268172" y="453580"/>
            <a:ext cx="10923827" cy="7339919"/>
            <a:chOff x="-4819754" y="-738677"/>
            <a:chExt cx="10675866" cy="5740597"/>
          </a:xfrm>
        </p:grpSpPr>
        <p:sp>
          <p:nvSpPr>
            <p:cNvPr id="170" name="Google Shape;170;p15"/>
            <p:cNvSpPr/>
            <p:nvPr/>
          </p:nvSpPr>
          <p:spPr>
            <a:xfrm>
              <a:off x="-4819754" y="-738677"/>
              <a:ext cx="5740597" cy="5740597"/>
            </a:xfrm>
            <a:prstGeom prst="blockArc">
              <a:avLst>
                <a:gd name="adj1" fmla="val 18900000"/>
                <a:gd name="adj2" fmla="val 2700000"/>
                <a:gd name="adj3" fmla="val 37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482245" y="327758"/>
              <a:ext cx="5373867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482245" y="327758"/>
              <a:ext cx="5373867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3175" rIns="43175" bIns="431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Changes require significant re-planning and adjustment to long-term plans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72334" y="245775"/>
              <a:ext cx="819821" cy="81982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858263" y="1311714"/>
              <a:ext cx="4997849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5" name="Google Shape;175;p15"/>
            <p:cNvSpPr txBox="1"/>
            <p:nvPr/>
          </p:nvSpPr>
          <p:spPr>
            <a:xfrm>
              <a:off x="858263" y="1311714"/>
              <a:ext cx="4997849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3175" rIns="43175" bIns="431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2000" i="1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Challenging to see the value of completed tasks throughout the project if only released at the end</a:t>
              </a: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448352" y="1229732"/>
              <a:ext cx="819821" cy="819821"/>
            </a:xfrm>
            <a:prstGeom prst="ellipse">
              <a:avLst/>
            </a:prstGeom>
            <a:solidFill>
              <a:schemeClr val="tx2">
                <a:lumMod val="9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858263" y="2295670"/>
              <a:ext cx="4997849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8" name="Google Shape;178;p15"/>
            <p:cNvSpPr txBox="1"/>
            <p:nvPr/>
          </p:nvSpPr>
          <p:spPr>
            <a:xfrm>
              <a:off x="858263" y="2295670"/>
              <a:ext cx="4997849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3175" rIns="43175" bIns="431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200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Long delivery timeline, slow time to market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448352" y="2213688"/>
              <a:ext cx="819821" cy="81982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482245" y="3279626"/>
              <a:ext cx="5373867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1" name="Google Shape;181;p15"/>
            <p:cNvSpPr txBox="1"/>
            <p:nvPr/>
          </p:nvSpPr>
          <p:spPr>
            <a:xfrm>
              <a:off x="482245" y="3279626"/>
              <a:ext cx="5373867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3175" rIns="43175" bIns="431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2000" i="1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/>
                  <a:sym typeface="Calibri"/>
                </a:rPr>
                <a:t>Value of projects is low until the very end, meaning any pivots cause high sunk costs vs. delivering value</a:t>
              </a: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72334" y="3197644"/>
              <a:ext cx="819821" cy="81982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83" name="Google Shape;183;p15"/>
          <p:cNvSpPr txBox="1">
            <a:spLocks noGrp="1"/>
          </p:cNvSpPr>
          <p:nvPr>
            <p:ph type="title"/>
          </p:nvPr>
        </p:nvSpPr>
        <p:spPr>
          <a:xfrm>
            <a:off x="2013700" y="198779"/>
            <a:ext cx="78014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mbria"/>
              <a:buNone/>
            </a:pPr>
            <a:r>
              <a:rPr lang="en-US" sz="3600" b="1" i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Waterfall Methodology – Pros &amp; Cons</a:t>
            </a:r>
            <a:endParaRPr sz="3600" b="1" i="1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build="p"/>
      <p:bldP spid="16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/>
          <p:nvPr/>
        </p:nvSpPr>
        <p:spPr>
          <a:xfrm>
            <a:off x="392636" y="303150"/>
            <a:ext cx="21990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What is Agile? </a:t>
            </a:r>
            <a:endParaRPr sz="2400" b="1" i="1" dirty="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615351" y="1001528"/>
            <a:ext cx="112678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Agile project management is a flexible and iterative approach that enables teams to quickly adapt to changing project requirements and deliver high-quality results within shorter timeframes. </a:t>
            </a:r>
            <a:endParaRPr dirty="0"/>
          </a:p>
        </p:txBody>
      </p:sp>
      <p:sp>
        <p:nvSpPr>
          <p:cNvPr id="190" name="Google Shape;190;p16"/>
          <p:cNvSpPr/>
          <p:nvPr/>
        </p:nvSpPr>
        <p:spPr>
          <a:xfrm>
            <a:off x="502809" y="3090500"/>
            <a:ext cx="6096000" cy="186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methodologies are about: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Teamwork</a:t>
            </a:r>
            <a:endParaRPr sz="1600" i="1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Constant refinement  </a:t>
            </a:r>
            <a:endParaRPr sz="1600" i="1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Customer satisfaction </a:t>
            </a:r>
            <a:endParaRPr sz="1600" i="1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i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Breaking big projects into bite-sized pieces </a:t>
            </a:r>
            <a:endParaRPr sz="20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2326" y="1800687"/>
            <a:ext cx="5685137" cy="4445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  <p:bldP spid="1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/>
        </p:nvSpPr>
        <p:spPr>
          <a:xfrm>
            <a:off x="322059" y="982600"/>
            <a:ext cx="5157787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3600" b="1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Pros</a:t>
            </a:r>
            <a:endParaRPr sz="1600" dirty="0"/>
          </a:p>
        </p:txBody>
      </p:sp>
      <p:grpSp>
        <p:nvGrpSpPr>
          <p:cNvPr id="199" name="Google Shape;199;p17"/>
          <p:cNvGrpSpPr/>
          <p:nvPr/>
        </p:nvGrpSpPr>
        <p:grpSpPr>
          <a:xfrm>
            <a:off x="-4819754" y="275769"/>
            <a:ext cx="10675867" cy="7737452"/>
            <a:chOff x="-4819754" y="-738677"/>
            <a:chExt cx="10675867" cy="5740597"/>
          </a:xfrm>
        </p:grpSpPr>
        <p:sp>
          <p:nvSpPr>
            <p:cNvPr id="200" name="Google Shape;200;p17"/>
            <p:cNvSpPr/>
            <p:nvPr/>
          </p:nvSpPr>
          <p:spPr>
            <a:xfrm>
              <a:off x="-4819754" y="-738677"/>
              <a:ext cx="5740597" cy="5740597"/>
            </a:xfrm>
            <a:prstGeom prst="blockArc">
              <a:avLst>
                <a:gd name="adj1" fmla="val 18900000"/>
                <a:gd name="adj2" fmla="val 2700000"/>
                <a:gd name="adj3" fmla="val 37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482245" y="327758"/>
              <a:ext cx="5373868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482245" y="327758"/>
              <a:ext cx="5373868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Can handle changes to requirements along the way, regardless of size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72334" y="245775"/>
              <a:ext cx="819821" cy="81982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858263" y="1311714"/>
              <a:ext cx="4997850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858263" y="1311714"/>
              <a:ext cx="4997850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Shorter feedback loops mean faster ability to pivot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448352" y="1229732"/>
              <a:ext cx="819821" cy="81982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858263" y="2295670"/>
              <a:ext cx="4997850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858263" y="2295670"/>
              <a:ext cx="4997850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Clear visibility of current/active work items and ability to see progress on tasks over time</a:t>
              </a: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448352" y="2213688"/>
              <a:ext cx="819821" cy="8198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482245" y="3279626"/>
              <a:ext cx="5373868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482245" y="3279626"/>
              <a:ext cx="5373868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Support for engineering discipline and upfront testing, improving quality</a:t>
              </a: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72334" y="3197644"/>
              <a:ext cx="819821" cy="8198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13" name="Google Shape;213;p17"/>
          <p:cNvSpPr txBox="1"/>
          <p:nvPr/>
        </p:nvSpPr>
        <p:spPr>
          <a:xfrm>
            <a:off x="6609166" y="1110723"/>
            <a:ext cx="5183188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r>
              <a:rPr lang="en-US" sz="3200" b="1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Cons</a:t>
            </a:r>
            <a:endParaRPr dirty="0"/>
          </a:p>
        </p:txBody>
      </p:sp>
      <p:grpSp>
        <p:nvGrpSpPr>
          <p:cNvPr id="214" name="Google Shape;214;p17"/>
          <p:cNvGrpSpPr/>
          <p:nvPr/>
        </p:nvGrpSpPr>
        <p:grpSpPr>
          <a:xfrm>
            <a:off x="1374673" y="275769"/>
            <a:ext cx="10675866" cy="7672483"/>
            <a:chOff x="-4819754" y="-738677"/>
            <a:chExt cx="10675866" cy="5740597"/>
          </a:xfrm>
        </p:grpSpPr>
        <p:sp>
          <p:nvSpPr>
            <p:cNvPr id="215" name="Google Shape;215;p17"/>
            <p:cNvSpPr/>
            <p:nvPr/>
          </p:nvSpPr>
          <p:spPr>
            <a:xfrm>
              <a:off x="-4819754" y="-738677"/>
              <a:ext cx="5740597" cy="5740597"/>
            </a:xfrm>
            <a:prstGeom prst="blockArc">
              <a:avLst>
                <a:gd name="adj1" fmla="val 18900000"/>
                <a:gd name="adj2" fmla="val 2700000"/>
                <a:gd name="adj3" fmla="val 37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82245" y="327758"/>
              <a:ext cx="5373867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482245" y="327758"/>
              <a:ext cx="5373867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Requires customer involvement to allow teams to identify and analyze customer needs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72334" y="245775"/>
              <a:ext cx="819821" cy="81982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858263" y="1311714"/>
              <a:ext cx="4997849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858263" y="1311714"/>
              <a:ext cx="4997849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Project manager holds little authority; focus on facilitation and process instead</a:t>
              </a:r>
              <a:endParaRPr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448352" y="1229732"/>
              <a:ext cx="819821" cy="819821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858263" y="2295670"/>
              <a:ext cx="4997849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858263" y="2295670"/>
              <a:ext cx="4997849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Less predictable while more time and commitment is needed.</a:t>
              </a:r>
              <a:endParaRPr sz="2000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448352" y="2213688"/>
              <a:ext cx="819821" cy="81982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482245" y="3279626"/>
              <a:ext cx="5373867" cy="65585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482245" y="3279626"/>
              <a:ext cx="5373867" cy="655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0575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mbria"/>
                <a:buNone/>
              </a:pPr>
              <a:r>
                <a:rPr lang="en-US" sz="2000" b="0" i="1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/>
                  <a:sym typeface="Cambria"/>
                </a:rPr>
                <a:t>Allows for additional feature requests which may add cost or time</a:t>
              </a:r>
              <a:endParaRPr sz="2000" i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72334" y="3197644"/>
              <a:ext cx="819821" cy="81982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28" name="Google Shape;228;p17"/>
          <p:cNvSpPr txBox="1"/>
          <p:nvPr/>
        </p:nvSpPr>
        <p:spPr>
          <a:xfrm>
            <a:off x="2474347" y="156567"/>
            <a:ext cx="688925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mbria"/>
              <a:buNone/>
            </a:pPr>
            <a:r>
              <a:rPr lang="en-US" sz="3600" b="1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Methodology – Pros &amp; Cons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  <p:bldP spid="2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8"/>
          <p:cNvGraphicFramePr/>
          <p:nvPr>
            <p:extLst>
              <p:ext uri="{D42A27DB-BD31-4B8C-83A1-F6EECF244321}">
                <p14:modId xmlns:p14="http://schemas.microsoft.com/office/powerpoint/2010/main" val="1969685244"/>
              </p:ext>
            </p:extLst>
          </p:nvPr>
        </p:nvGraphicFramePr>
        <p:xfrm>
          <a:off x="7974" y="1138094"/>
          <a:ext cx="12192000" cy="5853247"/>
        </p:xfrm>
        <a:graphic>
          <a:graphicData uri="http://schemas.openxmlformats.org/drawingml/2006/table">
            <a:tbl>
              <a:tblPr firstRow="1" bandRow="1">
                <a:noFill/>
                <a:tableStyleId>{EA4E3D41-79BE-4D29-838F-AF1467D6DEB6}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1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WATERFALL</a:t>
                      </a:r>
                      <a:endParaRPr sz="32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AGILE</a:t>
                      </a:r>
                      <a:endParaRPr sz="32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8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ROLES</a:t>
                      </a:r>
                      <a:endParaRPr sz="20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51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i="1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764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PLANNING</a:t>
                      </a:r>
                      <a:endParaRPr sz="2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51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31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SCOPE</a:t>
                      </a:r>
                      <a:endParaRPr sz="24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759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5" name="Google Shape;235;p18"/>
          <p:cNvSpPr/>
          <p:nvPr/>
        </p:nvSpPr>
        <p:spPr>
          <a:xfrm>
            <a:off x="520501" y="226208"/>
            <a:ext cx="114578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548135"/>
                </a:solidFill>
                <a:latin typeface="Cambria"/>
                <a:ea typeface="Cambria"/>
                <a:cs typeface="Cambria"/>
                <a:sym typeface="Cambria"/>
              </a:rPr>
              <a:t>10 key differences between waterfall and agile</a:t>
            </a:r>
            <a:endParaRPr sz="4000" b="1" i="0" dirty="0">
              <a:solidFill>
                <a:srgbClr val="54813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7974" y="2265956"/>
            <a:ext cx="617121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Waterfall strictly assigns roles to project team members, with specific duties and responsibilities defined for each team member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226686" y="2258711"/>
            <a:ext cx="579911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model empowers team members to collaborate on different aspects of the project over time, leading to a more self-organizing team structure.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7974" y="3901629"/>
            <a:ext cx="591391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 waterfall, planning is a linear process done at the beginning of the project, with all requirements and objectives laid out in detail upfront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6305798" y="3925879"/>
            <a:ext cx="579911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planning is a continuous process throughout the project's life cycle, with adjustments made as new information or requirements emerge.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-39526" y="5593047"/>
            <a:ext cx="621871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The waterfall methodology generally discourages changes to the project's scope, even with change requests used correctly. Time and cost are the main constraints.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12008" y="5593047"/>
            <a:ext cx="566629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is more adaptable to changes in scope, with the development team able to adjust quickly as requirements change.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/>
      <p:bldP spid="237" grpId="0"/>
      <p:bldP spid="238" grpId="0"/>
      <p:bldP spid="239" grpId="0"/>
      <p:bldP spid="240" grpId="0"/>
      <p:bldP spid="2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19"/>
          <p:cNvGraphicFramePr/>
          <p:nvPr>
            <p:extLst>
              <p:ext uri="{D42A27DB-BD31-4B8C-83A1-F6EECF244321}">
                <p14:modId xmlns:p14="http://schemas.microsoft.com/office/powerpoint/2010/main" val="3878713679"/>
              </p:ext>
            </p:extLst>
          </p:nvPr>
        </p:nvGraphicFramePr>
        <p:xfrm>
          <a:off x="0" y="-10551"/>
          <a:ext cx="12192000" cy="7083683"/>
        </p:xfrm>
        <a:graphic>
          <a:graphicData uri="http://schemas.openxmlformats.org/drawingml/2006/table">
            <a:tbl>
              <a:tblPr firstRow="1" bandRow="1">
                <a:noFill/>
                <a:tableStyleId>{EA4E3D41-79BE-4D29-838F-AF1467D6DEB6}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89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WATERFALL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AGILE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96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FRAMES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46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C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727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SPEED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278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6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DELIVERY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824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11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FLEXIBILITY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9772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 dirty="0">
                        <a:solidFill>
                          <a:srgbClr val="C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9" name="Google Shape;249;p19"/>
          <p:cNvSpPr txBox="1"/>
          <p:nvPr/>
        </p:nvSpPr>
        <p:spPr>
          <a:xfrm>
            <a:off x="41564" y="1132956"/>
            <a:ext cx="619892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The waterfall method is designed for long-term projects with predetermined timelines. The project is completed linearly, with each phase dependent on the previous one.</a:t>
            </a:r>
            <a:endParaRPr sz="1600" dirty="0"/>
          </a:p>
        </p:txBody>
      </p:sp>
      <p:sp>
        <p:nvSpPr>
          <p:cNvPr id="250" name="Google Shape;250;p19"/>
          <p:cNvSpPr txBox="1"/>
          <p:nvPr/>
        </p:nvSpPr>
        <p:spPr>
          <a:xfrm>
            <a:off x="41564" y="2773723"/>
            <a:ext cx="605443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Waterfall projects tend to take longer because all requirements must be agreed upon before development can begin.</a:t>
            </a:r>
            <a:endParaRPr sz="1600" dirty="0"/>
          </a:p>
        </p:txBody>
      </p:sp>
      <p:sp>
        <p:nvSpPr>
          <p:cNvPr id="251" name="Google Shape;251;p19"/>
          <p:cNvSpPr txBox="1"/>
          <p:nvPr/>
        </p:nvSpPr>
        <p:spPr>
          <a:xfrm>
            <a:off x="6240484" y="4236439"/>
            <a:ext cx="571203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Agile allows for quick delivery of projects with shorter lifecycles, as each iteration delivers a workable product. 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6240484" y="5905383"/>
            <a:ext cx="590995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encourages teams to respond quickly and adaptively to changes during the development process. </a:t>
            </a:r>
            <a:endParaRPr sz="1600" dirty="0"/>
          </a:p>
        </p:txBody>
      </p:sp>
      <p:sp>
        <p:nvSpPr>
          <p:cNvPr id="253" name="Google Shape;253;p19"/>
          <p:cNvSpPr txBox="1"/>
          <p:nvPr/>
        </p:nvSpPr>
        <p:spPr>
          <a:xfrm>
            <a:off x="6240484" y="1195588"/>
            <a:ext cx="571203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Agile, however, uses short iterations to deliver value rapidly, allowing teams to adjust plans over time and achieve shorter time frames.</a:t>
            </a:r>
            <a:endParaRPr sz="1600" dirty="0"/>
          </a:p>
        </p:txBody>
      </p:sp>
      <p:sp>
        <p:nvSpPr>
          <p:cNvPr id="254" name="Google Shape;254;p19"/>
          <p:cNvSpPr txBox="1"/>
          <p:nvPr/>
        </p:nvSpPr>
        <p:spPr>
          <a:xfrm>
            <a:off x="6137564" y="2756122"/>
            <a:ext cx="567244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Agile projects, on the other hand, are usually delivered more rapidly than waterfall projects due to the iterative development cycles used in agile. 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63336" y="4349974"/>
            <a:ext cx="553390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Waterfall requires the completion of all tasks before any work can be released.</a:t>
            </a:r>
            <a:endParaRPr sz="2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41564" y="5905383"/>
            <a:ext cx="56724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Waterfall is less flexible and resistant to change once the project's scope has been defined.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20"/>
          <p:cNvGraphicFramePr/>
          <p:nvPr>
            <p:extLst>
              <p:ext uri="{D42A27DB-BD31-4B8C-83A1-F6EECF244321}">
                <p14:modId xmlns:p14="http://schemas.microsoft.com/office/powerpoint/2010/main" val="470245297"/>
              </p:ext>
            </p:extLst>
          </p:nvPr>
        </p:nvGraphicFramePr>
        <p:xfrm>
          <a:off x="0" y="0"/>
          <a:ext cx="12192000" cy="6850966"/>
        </p:xfrm>
        <a:graphic>
          <a:graphicData uri="http://schemas.openxmlformats.org/drawingml/2006/table">
            <a:tbl>
              <a:tblPr firstRow="1" bandRow="1">
                <a:noFill/>
                <a:tableStyleId>{EA4E3D41-79BE-4D29-838F-AF1467D6DEB6}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033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WATERFALL</a:t>
                      </a:r>
                      <a:endParaRPr sz="32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cap="none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AGILE</a:t>
                      </a:r>
                      <a:endParaRPr sz="32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1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TESTING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 dirty="0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br>
                        <a:rPr lang="en-US" sz="1800" i="1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524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DOCUMENTATION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4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80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197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COMMUNICATION</a:t>
                      </a:r>
                      <a:endParaRPr sz="2400" b="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E0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4248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i="1" u="none" strike="noStrike" cap="none" dirty="0">
                        <a:solidFill>
                          <a:srgbClr val="C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4" name="Google Shape;264;p20"/>
          <p:cNvSpPr txBox="1"/>
          <p:nvPr/>
        </p:nvSpPr>
        <p:spPr>
          <a:xfrm>
            <a:off x="6145480" y="1753863"/>
            <a:ext cx="587828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Agile emphasizes incremental testing to identify and resolve issues throughout the development process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6145480" y="3448654"/>
            <a:ext cx="587828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Agile relies on minimal documentation, focusing on self-organizing teams and collaboration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6236526" y="5230212"/>
            <a:ext cx="578724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Agile emphasizes informal communication, with frequent interactions between individuals or small groups of stakeholders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168233" y="5230212"/>
            <a:ext cx="578724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 waterfall, communication is more formal,  with 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detailed communication plans and progress reports shared across multiple stakeholders.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168234" y="3442212"/>
            <a:ext cx="566889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Waterfall relies heavily on documenting each step in detail to ensure that all team members are on the same page.</a:t>
            </a:r>
            <a:endParaRPr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68234" y="1740979"/>
            <a:ext cx="541514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 waterfall, testing is usually done at specific milestones, often towards the end of the project. </a:t>
            </a:r>
            <a:endParaRPr sz="20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65" grpId="0"/>
      <p:bldP spid="266" grpId="0"/>
      <p:bldP spid="267" grpId="0"/>
      <p:bldP spid="268" grpId="0"/>
      <p:bldP spid="2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/>
          <p:nvPr/>
        </p:nvSpPr>
        <p:spPr>
          <a:xfrm>
            <a:off x="227619" y="296254"/>
            <a:ext cx="69609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548135"/>
                </a:solidFill>
                <a:latin typeface="Cambria"/>
                <a:ea typeface="Cambria"/>
                <a:cs typeface="Cambria"/>
                <a:sym typeface="Cambria"/>
              </a:rPr>
              <a:t>WHEN TO USE WATERFALL METHODOLOGY:</a:t>
            </a:r>
            <a:endParaRPr sz="2400" b="1" i="0" dirty="0">
              <a:solidFill>
                <a:srgbClr val="54813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6342107" y="771872"/>
            <a:ext cx="5929746" cy="280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Simple scope and requirement gathering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Clear and linear sequence of tasks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Predictable deliverables based on set deadlines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Structured processes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Rigid quality control measures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Long-term commitment from all parties involved</a:t>
            </a:r>
            <a:endParaRPr sz="2000" b="0" i="1" dirty="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27619" y="3577127"/>
            <a:ext cx="54821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548135"/>
                </a:solidFill>
                <a:latin typeface="Cambria"/>
                <a:ea typeface="Cambria"/>
                <a:cs typeface="Cambria"/>
                <a:sym typeface="Cambria"/>
              </a:rPr>
              <a:t>WHEN TO USE AGILE METHODOLOGY:</a:t>
            </a:r>
            <a:endParaRPr sz="2400" b="1" i="0" dirty="0">
              <a:solidFill>
                <a:srgbClr val="54813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342107" y="4052745"/>
            <a:ext cx="4813465" cy="280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Complex deliverables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Frequent iterations and refinements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Rapid delivery times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Emergent requirements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Collaborative environments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✔"/>
            </a:pPr>
            <a:r>
              <a:rPr lang="en-US" sz="2000" i="1" dirty="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Multiple stakeholders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4F3CC-412F-4546-9E11-CA12CAABE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58" y="5618670"/>
            <a:ext cx="1120609" cy="970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2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/>
      <p:bldP spid="276" grpId="0"/>
      <p:bldP spid="27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857</Words>
  <Application>Microsoft Office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Cambria</vt:lpstr>
      <vt:lpstr>Noto Sans Symbols</vt:lpstr>
      <vt:lpstr>Arial</vt:lpstr>
      <vt:lpstr>Office Theme</vt:lpstr>
      <vt:lpstr>PowerPoint Presentation</vt:lpstr>
      <vt:lpstr>PowerPoint Presentation</vt:lpstr>
      <vt:lpstr>Waterfall Methodology – Pros &amp; 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Ctrend pk</dc:creator>
  <cp:lastModifiedBy>Mallesh Kumar Patnala</cp:lastModifiedBy>
  <cp:revision>21</cp:revision>
  <dcterms:modified xsi:type="dcterms:W3CDTF">2025-10-08T10:12:31Z</dcterms:modified>
</cp:coreProperties>
</file>